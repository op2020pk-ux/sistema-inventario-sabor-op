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70" r:id="rId13"/>
    <p:sldId id="272" r:id="rId14"/>
    <p:sldId id="273" r:id="rId15"/>
    <p:sldId id="271" r:id="rId16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56" autoAdjust="0"/>
  </p:normalViewPr>
  <p:slideViewPr>
    <p:cSldViewPr snapToGrid="0">
      <p:cViewPr varScale="1">
        <p:scale>
          <a:sx n="74" d="100"/>
          <a:sy n="74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07F16FF-9F07-434B-A511-356308181EA2}" type="datetimeFigureOut">
              <a:rPr lang="es-VE" smtClean="0"/>
              <a:t>15/7/2026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9562B42-3451-4464-B212-7160009742D3}" type="slidenum">
              <a:rPr lang="es-VE" smtClean="0"/>
              <a:t>‹Nº›</a:t>
            </a:fld>
            <a:endParaRPr lang="es-VE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90538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16FF-9F07-434B-A511-356308181EA2}" type="datetimeFigureOut">
              <a:rPr lang="es-VE" smtClean="0"/>
              <a:t>15/7/2026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2B42-3451-4464-B212-7160009742D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51937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07F16FF-9F07-434B-A511-356308181EA2}" type="datetimeFigureOut">
              <a:rPr lang="es-VE" smtClean="0"/>
              <a:t>15/7/2026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9562B42-3451-4464-B212-7160009742D3}" type="slidenum">
              <a:rPr lang="es-VE" smtClean="0"/>
              <a:t>‹Nº›</a:t>
            </a:fld>
            <a:endParaRPr lang="es-VE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647395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16FF-9F07-434B-A511-356308181EA2}" type="datetimeFigureOut">
              <a:rPr lang="es-VE" smtClean="0"/>
              <a:t>15/7/2026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2B42-3451-4464-B212-7160009742D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74158939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16FF-9F07-434B-A511-356308181EA2}" type="datetimeFigureOut">
              <a:rPr lang="es-VE" smtClean="0"/>
              <a:t>15/7/2026</a:t>
            </a:fld>
            <a:endParaRPr lang="es-V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2B42-3451-4464-B212-7160009742D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55975472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16FF-9F07-434B-A511-356308181EA2}" type="datetimeFigureOut">
              <a:rPr lang="es-VE" smtClean="0"/>
              <a:t>15/7/2026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2B42-3451-4464-B212-7160009742D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02925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16FF-9F07-434B-A511-356308181EA2}" type="datetimeFigureOut">
              <a:rPr lang="es-VE" smtClean="0"/>
              <a:t>15/7/2026</a:t>
            </a:fld>
            <a:endParaRPr lang="es-V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2B42-3451-4464-B212-7160009742D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07861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D07F16FF-9F07-434B-A511-356308181EA2}" type="datetimeFigureOut">
              <a:rPr lang="es-VE" smtClean="0"/>
              <a:t>15/7/2026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39562B42-3451-4464-B212-7160009742D3}" type="slidenum">
              <a:rPr lang="es-VE" smtClean="0"/>
              <a:t>‹Nº›</a:t>
            </a:fld>
            <a:endParaRPr lang="es-VE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4076055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D07F16FF-9F07-434B-A511-356308181EA2}" type="datetimeFigureOut">
              <a:rPr lang="es-VE" smtClean="0"/>
              <a:t>15/7/2026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39562B42-3451-4464-B212-7160009742D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727803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16FF-9F07-434B-A511-356308181EA2}" type="datetimeFigureOut">
              <a:rPr lang="es-VE" smtClean="0"/>
              <a:t>15/7/2026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2B42-3451-4464-B212-7160009742D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75444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16FF-9F07-434B-A511-356308181EA2}" type="datetimeFigureOut">
              <a:rPr lang="es-VE" smtClean="0"/>
              <a:t>15/7/2026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2B42-3451-4464-B212-7160009742D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10727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07F16FF-9F07-434B-A511-356308181EA2}" type="datetimeFigureOut">
              <a:rPr lang="es-VE" smtClean="0"/>
              <a:t>15/7/2026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9562B42-3451-4464-B212-7160009742D3}" type="slidenum">
              <a:rPr lang="es-VE" smtClean="0"/>
              <a:t>‹Nº›</a:t>
            </a:fld>
            <a:endParaRPr lang="es-VE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1462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15900"/>
            <a:ext cx="10515600" cy="63881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200" b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REPÚBLICA </a:t>
            </a:r>
            <a:r>
              <a:rPr lang="es-ES" sz="1200" b="1" dirty="0">
                <a:solidFill>
                  <a:schemeClr val="tx1"/>
                </a:solidFill>
                <a:latin typeface="Georgia" panose="02040502050405020303" pitchFamily="18" charset="0"/>
              </a:rPr>
              <a:t>BOLIVARIANA DE VENEZUELA</a:t>
            </a:r>
            <a:endParaRPr lang="es-VE" sz="12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s-ES" sz="1200" b="1" dirty="0">
                <a:solidFill>
                  <a:schemeClr val="tx1"/>
                </a:solidFill>
                <a:latin typeface="Georgia" panose="02040502050405020303" pitchFamily="18" charset="0"/>
              </a:rPr>
              <a:t>MINISTERIO DEL PODER POPULAR PARA LA EDUCACIÓN</a:t>
            </a:r>
            <a:endParaRPr lang="es-VE" sz="12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s-ES" sz="1200" b="1" dirty="0">
                <a:solidFill>
                  <a:schemeClr val="tx1"/>
                </a:solidFill>
                <a:latin typeface="Georgia" panose="02040502050405020303" pitchFamily="18" charset="0"/>
              </a:rPr>
              <a:t>UNIVERSITARIA, CIENCIA Y TECNOLOGÍA</a:t>
            </a:r>
            <a:endParaRPr lang="es-VE" sz="12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s-ES" sz="1200" b="1" dirty="0">
                <a:solidFill>
                  <a:schemeClr val="tx1"/>
                </a:solidFill>
                <a:latin typeface="Georgia" panose="02040502050405020303" pitchFamily="18" charset="0"/>
              </a:rPr>
              <a:t>UNIVERSIDAD POLITÉCNICA DEL ESTADO ARAGUA</a:t>
            </a:r>
            <a:endParaRPr lang="es-VE" sz="12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s-ES" sz="1200" b="1" dirty="0">
                <a:solidFill>
                  <a:schemeClr val="tx1"/>
                </a:solidFill>
                <a:latin typeface="Georgia" panose="02040502050405020303" pitchFamily="18" charset="0"/>
              </a:rPr>
              <a:t>“FEDERICO BRITO FIGUEROA”</a:t>
            </a:r>
            <a:endParaRPr lang="es-VE" sz="12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s-ES" sz="1200" b="1" dirty="0">
                <a:solidFill>
                  <a:schemeClr val="tx1"/>
                </a:solidFill>
                <a:latin typeface="Georgia" panose="02040502050405020303" pitchFamily="18" charset="0"/>
              </a:rPr>
              <a:t>PNF: </a:t>
            </a:r>
            <a:r>
              <a:rPr lang="es-ES" sz="1200" b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INFORMÁTICA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s-ES" sz="1200" b="1" dirty="0">
              <a:latin typeface="Georgia" panose="02040502050405020303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s-ES" sz="1200" b="1" dirty="0" smtClean="0">
              <a:latin typeface="Georgia" panose="02040502050405020303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s-ES" sz="1200" b="1" dirty="0">
              <a:latin typeface="Georgia" panose="02040502050405020303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s-ES" sz="1200" b="1" dirty="0">
              <a:latin typeface="Georgia" panose="02040502050405020303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s-ES" sz="2100" b="1" i="1" dirty="0" smtClean="0">
                <a:solidFill>
                  <a:schemeClr val="tx1"/>
                </a:solidFill>
              </a:rPr>
              <a:t>Sistema de Gestión de Inventario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s-ES" sz="2100" b="1" i="1" dirty="0" smtClean="0">
                <a:solidFill>
                  <a:schemeClr val="tx1"/>
                </a:solidFill>
              </a:rPr>
              <a:t>y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s-ES" sz="2100" b="1" i="1" dirty="0" smtClean="0">
                <a:solidFill>
                  <a:schemeClr val="tx1"/>
                </a:solidFill>
              </a:rPr>
              <a:t>Abastecimiento Mayorista.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s-ES" sz="1400" i="1" dirty="0" smtClean="0">
              <a:latin typeface="Georgia" panose="02040502050405020303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s-ES" sz="1400" i="1" dirty="0" smtClean="0">
              <a:latin typeface="Georgia" panose="02040502050405020303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s-ES" sz="1400" i="1" dirty="0" smtClean="0">
              <a:latin typeface="Georgia" panose="02040502050405020303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s-ES" sz="1400" i="1" dirty="0" smtClean="0">
                <a:latin typeface="Georgia" panose="02040502050405020303" pitchFamily="18" charset="0"/>
              </a:rPr>
              <a:t>								</a:t>
            </a:r>
            <a:r>
              <a:rPr lang="es-ES" sz="1400" b="1" i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Integrante:</a:t>
            </a:r>
            <a:r>
              <a:rPr lang="es-ES" sz="1400" i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 Omar Pinto</a:t>
            </a:r>
            <a:br>
              <a:rPr lang="es-ES" sz="1400" i="1" dirty="0" smtClean="0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s-ES" sz="1400" i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							                 </a:t>
            </a:r>
            <a:r>
              <a:rPr lang="es-ES" sz="1400" b="1" i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Profesor:</a:t>
            </a:r>
            <a:r>
              <a:rPr lang="es-ES" sz="1400" i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 Jorge Acosta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s-ES" sz="1400" i="1" dirty="0" smtClean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s-ES" sz="1400" b="1" i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La Victoria – Estado Aragua</a:t>
            </a:r>
            <a:endParaRPr lang="es-VE" sz="1400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pic>
        <p:nvPicPr>
          <p:cNvPr id="4" name="Imagen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607" y="269875"/>
            <a:ext cx="100965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807" y="269875"/>
            <a:ext cx="895985" cy="8959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819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116215"/>
          </a:xfrm>
        </p:spPr>
        <p:txBody>
          <a:bodyPr>
            <a:noAutofit/>
          </a:bodyPr>
          <a:lstStyle/>
          <a:p>
            <a:pPr algn="ctr"/>
            <a:r>
              <a:rPr lang="es-ES" sz="3600" b="1" dirty="0">
                <a:latin typeface="Georgia" panose="02040502050405020303" pitchFamily="18" charset="0"/>
              </a:rPr>
              <a:t>DISTRIBUIDORA </a:t>
            </a:r>
            <a:r>
              <a:rPr lang="es-ES" sz="3600" b="1" dirty="0" smtClean="0">
                <a:latin typeface="Georgia" panose="02040502050405020303" pitchFamily="18" charset="0"/>
              </a:rPr>
              <a:t>MAYORISTA</a:t>
            </a:r>
            <a:r>
              <a:rPr lang="es-ES" sz="3600" b="1" dirty="0">
                <a:latin typeface="Georgia" panose="02040502050405020303" pitchFamily="18" charset="0"/>
              </a:rPr>
              <a:t/>
            </a:r>
            <a:br>
              <a:rPr lang="es-ES" sz="3600" b="1" dirty="0">
                <a:latin typeface="Georgia" panose="02040502050405020303" pitchFamily="18" charset="0"/>
              </a:rPr>
            </a:br>
            <a:r>
              <a:rPr lang="es-ES" sz="3600" b="1" dirty="0">
                <a:latin typeface="Georgia" panose="02040502050405020303" pitchFamily="18" charset="0"/>
              </a:rPr>
              <a:t>EL SABOR DE OP</a:t>
            </a:r>
            <a:endParaRPr lang="es-VE" sz="32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530642"/>
            <a:ext cx="9855200" cy="524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932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36815"/>
          </a:xfrm>
        </p:spPr>
        <p:txBody>
          <a:bodyPr>
            <a:normAutofit/>
          </a:bodyPr>
          <a:lstStyle/>
          <a:p>
            <a:pPr algn="ctr"/>
            <a:r>
              <a:rPr lang="en-CA" sz="3600" b="1" dirty="0" smtClean="0">
                <a:latin typeface="Georgia" panose="02040502050405020303" pitchFamily="18" charset="0"/>
              </a:rPr>
              <a:t>Introducción del proyecto</a:t>
            </a:r>
            <a:endParaRPr lang="es-VE" sz="3600" b="1" dirty="0">
              <a:latin typeface="Georgia" panose="02040502050405020303" pitchFamily="18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909352" y="1320801"/>
            <a:ext cx="8784048" cy="1371600"/>
          </a:xfrm>
        </p:spPr>
        <p:txBody>
          <a:bodyPr>
            <a:noAutofit/>
          </a:bodyPr>
          <a:lstStyle/>
          <a:p>
            <a:r>
              <a:rPr lang="es-ES" dirty="0">
                <a:solidFill>
                  <a:schemeClr val="tx1"/>
                </a:solidFill>
                <a:latin typeface="Georgia" panose="02040502050405020303" pitchFamily="18" charset="0"/>
              </a:rPr>
              <a:t>Este proyecto consiste en el diseño, desarrollo e implementación de un </a:t>
            </a:r>
            <a:r>
              <a:rPr lang="es-ES" b="1" dirty="0">
                <a:solidFill>
                  <a:schemeClr val="tx1"/>
                </a:solidFill>
                <a:latin typeface="Georgia" panose="02040502050405020303" pitchFamily="18" charset="0"/>
              </a:rPr>
              <a:t>Sistema Modular de Gestión de Inventario </a:t>
            </a:r>
            <a:r>
              <a:rPr lang="es-ES" dirty="0">
                <a:solidFill>
                  <a:schemeClr val="tx1"/>
                </a:solidFill>
                <a:latin typeface="Georgia" panose="02040502050405020303" pitchFamily="18" charset="0"/>
              </a:rPr>
              <a:t>y Facturación Automatizada para la empresa </a:t>
            </a:r>
            <a:r>
              <a:rPr lang="es-ES" b="1" dirty="0">
                <a:solidFill>
                  <a:schemeClr val="tx1"/>
                </a:solidFill>
                <a:latin typeface="Georgia" panose="02040502050405020303" pitchFamily="18" charset="0"/>
              </a:rPr>
              <a:t>"Distribuidora Mayorista El Sabor de OP"</a:t>
            </a:r>
            <a:r>
              <a:rPr lang="es-ES" dirty="0">
                <a:solidFill>
                  <a:schemeClr val="tx1"/>
                </a:solidFill>
                <a:latin typeface="Georgia" panose="02040502050405020303" pitchFamily="18" charset="0"/>
              </a:rPr>
              <a:t> (2026). </a:t>
            </a:r>
            <a:endParaRPr lang="es-ES" dirty="0" smtClean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8" name="Marcador de contenido 2"/>
          <p:cNvSpPr txBox="1">
            <a:spLocks/>
          </p:cNvSpPr>
          <p:nvPr/>
        </p:nvSpPr>
        <p:spPr>
          <a:xfrm>
            <a:off x="1930399" y="3147498"/>
            <a:ext cx="8762183" cy="15430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>
                <a:solidFill>
                  <a:schemeClr val="tx1"/>
                </a:solidFill>
                <a:latin typeface="Georgia" panose="02040502050405020303" pitchFamily="18" charset="0"/>
              </a:rPr>
              <a:t>El sistema surge como una solución tecnológica para automatizar y controlar con precisión los flujos de ventas, la entrada y salida de mercancías de confitería, la asignación de permisos de usuario y el análisis de inventario crítico en tiempo real. </a:t>
            </a:r>
            <a:endParaRPr lang="es-V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391" y="1752345"/>
            <a:ext cx="565406" cy="565406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391" y="3175816"/>
            <a:ext cx="565406" cy="565406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6887" y="4849430"/>
            <a:ext cx="1381850" cy="1381850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29010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222" y="1307935"/>
            <a:ext cx="6315956" cy="236253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519290" y="2335311"/>
            <a:ext cx="1391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 smtClean="0">
                <a:latin typeface="Georgia" panose="02040502050405020303" pitchFamily="18" charset="0"/>
              </a:rPr>
              <a:t>Diseñado en:</a:t>
            </a:r>
            <a:endParaRPr lang="es-VE" sz="1400" b="1" dirty="0">
              <a:latin typeface="Georgia" panose="02040502050405020303" pitchFamily="18" charset="0"/>
            </a:endParaRP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36815"/>
          </a:xfrm>
        </p:spPr>
        <p:txBody>
          <a:bodyPr>
            <a:normAutofit/>
          </a:bodyPr>
          <a:lstStyle/>
          <a:p>
            <a:pPr algn="ctr"/>
            <a:r>
              <a:rPr lang="en-CA" sz="3600" b="1" dirty="0" smtClean="0">
                <a:latin typeface="Georgia" panose="02040502050405020303" pitchFamily="18" charset="0"/>
              </a:rPr>
              <a:t>SISTEMA DISEÑADO EN</a:t>
            </a:r>
            <a:endParaRPr lang="es-VE" sz="3600" b="1" dirty="0">
              <a:latin typeface="Georgia" panose="02040502050405020303" pitchFamily="18" charset="0"/>
            </a:endParaRPr>
          </a:p>
        </p:txBody>
      </p:sp>
      <p:grpSp>
        <p:nvGrpSpPr>
          <p:cNvPr id="29" name="Grupo 28"/>
          <p:cNvGrpSpPr/>
          <p:nvPr/>
        </p:nvGrpSpPr>
        <p:grpSpPr>
          <a:xfrm>
            <a:off x="1612900" y="4629151"/>
            <a:ext cx="9068186" cy="1828491"/>
            <a:chOff x="1612900" y="4629151"/>
            <a:chExt cx="9068186" cy="1828491"/>
          </a:xfrm>
        </p:grpSpPr>
        <p:grpSp>
          <p:nvGrpSpPr>
            <p:cNvPr id="23" name="Grupo 22"/>
            <p:cNvGrpSpPr/>
            <p:nvPr/>
          </p:nvGrpSpPr>
          <p:grpSpPr>
            <a:xfrm>
              <a:off x="1612900" y="4673600"/>
              <a:ext cx="1553630" cy="1739592"/>
              <a:chOff x="1473200" y="4254500"/>
              <a:chExt cx="1553630" cy="1739592"/>
            </a:xfrm>
          </p:grpSpPr>
          <p:pic>
            <p:nvPicPr>
              <p:cNvPr id="13" name="Imagen 12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5431" y="4663875"/>
                <a:ext cx="1330217" cy="1330217"/>
              </a:xfrm>
              <a:prstGeom prst="rect">
                <a:avLst/>
              </a:prstGeom>
            </p:spPr>
          </p:pic>
          <p:sp>
            <p:nvSpPr>
              <p:cNvPr id="14" name="CuadroTexto 13"/>
              <p:cNvSpPr txBox="1"/>
              <p:nvPr/>
            </p:nvSpPr>
            <p:spPr>
              <a:xfrm>
                <a:off x="1473200" y="4254500"/>
                <a:ext cx="15536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b="1" dirty="0" smtClean="0">
                    <a:latin typeface="Georgia" panose="02040502050405020303" pitchFamily="18" charset="0"/>
                  </a:rPr>
                  <a:t>Editor de texto</a:t>
                </a:r>
                <a:endParaRPr lang="es-VE" sz="1400" b="1" dirty="0">
                  <a:latin typeface="Georgia" panose="02040502050405020303" pitchFamily="18" charset="0"/>
                </a:endParaRPr>
              </a:p>
            </p:txBody>
          </p:sp>
        </p:grpSp>
        <p:grpSp>
          <p:nvGrpSpPr>
            <p:cNvPr id="24" name="Grupo 23"/>
            <p:cNvGrpSpPr/>
            <p:nvPr/>
          </p:nvGrpSpPr>
          <p:grpSpPr>
            <a:xfrm>
              <a:off x="3339224" y="4660900"/>
              <a:ext cx="1330217" cy="1764992"/>
              <a:chOff x="3127483" y="4254500"/>
              <a:chExt cx="1330217" cy="1764992"/>
            </a:xfrm>
          </p:grpSpPr>
          <p:pic>
            <p:nvPicPr>
              <p:cNvPr id="12" name="Imagen 1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27483" y="4689275"/>
                <a:ext cx="1330217" cy="1330217"/>
              </a:xfrm>
              <a:prstGeom prst="rect">
                <a:avLst/>
              </a:prstGeom>
            </p:spPr>
          </p:pic>
          <p:sp>
            <p:nvSpPr>
              <p:cNvPr id="15" name="CuadroTexto 14"/>
              <p:cNvSpPr txBox="1"/>
              <p:nvPr/>
            </p:nvSpPr>
            <p:spPr>
              <a:xfrm>
                <a:off x="3352800" y="4254500"/>
                <a:ext cx="88678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b="1" dirty="0" smtClean="0">
                    <a:latin typeface="Georgia" panose="02040502050405020303" pitchFamily="18" charset="0"/>
                  </a:rPr>
                  <a:t>HTML5</a:t>
                </a:r>
                <a:endParaRPr lang="es-VE" sz="1400" b="1" dirty="0">
                  <a:latin typeface="Georgia" panose="02040502050405020303" pitchFamily="18" charset="0"/>
                </a:endParaRPr>
              </a:p>
            </p:txBody>
          </p:sp>
        </p:grpSp>
        <p:grpSp>
          <p:nvGrpSpPr>
            <p:cNvPr id="26" name="Grupo 25"/>
            <p:cNvGrpSpPr/>
            <p:nvPr/>
          </p:nvGrpSpPr>
          <p:grpSpPr>
            <a:xfrm>
              <a:off x="6345046" y="4648201"/>
              <a:ext cx="1330217" cy="1790391"/>
              <a:chOff x="6366369" y="4203700"/>
              <a:chExt cx="1330217" cy="1790391"/>
            </a:xfrm>
          </p:grpSpPr>
          <p:pic>
            <p:nvPicPr>
              <p:cNvPr id="11" name="Imagen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66369" y="4663874"/>
                <a:ext cx="1330217" cy="1330217"/>
              </a:xfrm>
              <a:prstGeom prst="rect">
                <a:avLst/>
              </a:prstGeom>
            </p:spPr>
          </p:pic>
          <p:sp>
            <p:nvSpPr>
              <p:cNvPr id="17" name="CuadroTexto 16"/>
              <p:cNvSpPr txBox="1"/>
              <p:nvPr/>
            </p:nvSpPr>
            <p:spPr>
              <a:xfrm>
                <a:off x="6731000" y="4203700"/>
                <a:ext cx="5469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b="1" dirty="0" smtClean="0">
                    <a:latin typeface="Georgia" panose="02040502050405020303" pitchFamily="18" charset="0"/>
                  </a:rPr>
                  <a:t>CSS</a:t>
                </a:r>
                <a:endParaRPr lang="es-VE" sz="1400" b="1" dirty="0">
                  <a:latin typeface="Georgia" panose="02040502050405020303" pitchFamily="18" charset="0"/>
                </a:endParaRPr>
              </a:p>
            </p:txBody>
          </p:sp>
        </p:grpSp>
        <p:grpSp>
          <p:nvGrpSpPr>
            <p:cNvPr id="25" name="Grupo 24"/>
            <p:cNvGrpSpPr/>
            <p:nvPr/>
          </p:nvGrpSpPr>
          <p:grpSpPr>
            <a:xfrm>
              <a:off x="4842135" y="4667251"/>
              <a:ext cx="1330217" cy="1752290"/>
              <a:chOff x="4808113" y="4241800"/>
              <a:chExt cx="1330217" cy="1752290"/>
            </a:xfrm>
          </p:grpSpPr>
          <p:sp>
            <p:nvSpPr>
              <p:cNvPr id="16" name="CuadroTexto 15"/>
              <p:cNvSpPr txBox="1"/>
              <p:nvPr/>
            </p:nvSpPr>
            <p:spPr>
              <a:xfrm>
                <a:off x="5181600" y="4241800"/>
                <a:ext cx="6014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b="1" dirty="0" smtClean="0">
                    <a:latin typeface="Georgia" panose="02040502050405020303" pitchFamily="18" charset="0"/>
                  </a:rPr>
                  <a:t>PHP</a:t>
                </a:r>
                <a:endParaRPr lang="es-VE" sz="1400" b="1" dirty="0">
                  <a:latin typeface="Georgia" panose="02040502050405020303" pitchFamily="18" charset="0"/>
                </a:endParaRPr>
              </a:p>
            </p:txBody>
          </p:sp>
          <p:pic>
            <p:nvPicPr>
              <p:cNvPr id="18" name="Imagen 17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08113" y="4663873"/>
                <a:ext cx="1330217" cy="1330217"/>
              </a:xfrm>
              <a:prstGeom prst="rect">
                <a:avLst/>
              </a:prstGeom>
            </p:spPr>
          </p:pic>
        </p:grpSp>
        <p:grpSp>
          <p:nvGrpSpPr>
            <p:cNvPr id="27" name="Grupo 26"/>
            <p:cNvGrpSpPr/>
            <p:nvPr/>
          </p:nvGrpSpPr>
          <p:grpSpPr>
            <a:xfrm>
              <a:off x="7847957" y="4629151"/>
              <a:ext cx="1330217" cy="1828491"/>
              <a:chOff x="7826869" y="4178300"/>
              <a:chExt cx="1330217" cy="1828491"/>
            </a:xfrm>
          </p:grpSpPr>
          <p:sp>
            <p:nvSpPr>
              <p:cNvPr id="19" name="CuadroTexto 18"/>
              <p:cNvSpPr txBox="1"/>
              <p:nvPr/>
            </p:nvSpPr>
            <p:spPr>
              <a:xfrm>
                <a:off x="8280400" y="4178300"/>
                <a:ext cx="4090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b="1" dirty="0" smtClean="0">
                    <a:latin typeface="Georgia" panose="02040502050405020303" pitchFamily="18" charset="0"/>
                  </a:rPr>
                  <a:t>JS</a:t>
                </a:r>
                <a:endParaRPr lang="es-VE" sz="1400" b="1" dirty="0">
                  <a:latin typeface="Georgia" panose="02040502050405020303" pitchFamily="18" charset="0"/>
                </a:endParaRPr>
              </a:p>
            </p:txBody>
          </p:sp>
          <p:pic>
            <p:nvPicPr>
              <p:cNvPr id="21" name="Imagen 20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26869" y="4676574"/>
                <a:ext cx="1330217" cy="1330217"/>
              </a:xfrm>
              <a:prstGeom prst="rect">
                <a:avLst/>
              </a:prstGeom>
            </p:spPr>
          </p:pic>
        </p:grpSp>
        <p:grpSp>
          <p:nvGrpSpPr>
            <p:cNvPr id="28" name="Grupo 27"/>
            <p:cNvGrpSpPr/>
            <p:nvPr/>
          </p:nvGrpSpPr>
          <p:grpSpPr>
            <a:xfrm>
              <a:off x="9350869" y="4635501"/>
              <a:ext cx="1330217" cy="1815791"/>
              <a:chOff x="9211169" y="4191000"/>
              <a:chExt cx="1330217" cy="1815791"/>
            </a:xfrm>
          </p:grpSpPr>
          <p:sp>
            <p:nvSpPr>
              <p:cNvPr id="20" name="CuadroTexto 19"/>
              <p:cNvSpPr txBox="1"/>
              <p:nvPr/>
            </p:nvSpPr>
            <p:spPr>
              <a:xfrm>
                <a:off x="9423400" y="4191000"/>
                <a:ext cx="8579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b="1" dirty="0" err="1" smtClean="0">
                    <a:latin typeface="Georgia" panose="02040502050405020303" pitchFamily="18" charset="0"/>
                  </a:rPr>
                  <a:t>MySQL</a:t>
                </a:r>
                <a:endParaRPr lang="es-VE" sz="1400" b="1" dirty="0">
                  <a:latin typeface="Georgia" panose="02040502050405020303" pitchFamily="18" charset="0"/>
                </a:endParaRPr>
              </a:p>
            </p:txBody>
          </p:sp>
          <p:pic>
            <p:nvPicPr>
              <p:cNvPr id="22" name="Imagen 21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11169" y="4676574"/>
                <a:ext cx="1330217" cy="1330217"/>
              </a:xfrm>
              <a:prstGeom prst="rect">
                <a:avLst/>
              </a:prstGeom>
            </p:spPr>
          </p:pic>
        </p:grpSp>
      </p:grpSp>
      <p:sp>
        <p:nvSpPr>
          <p:cNvPr id="30" name="Título 1"/>
          <p:cNvSpPr txBox="1">
            <a:spLocks/>
          </p:cNvSpPr>
          <p:nvPr/>
        </p:nvSpPr>
        <p:spPr>
          <a:xfrm>
            <a:off x="1264378" y="3785985"/>
            <a:ext cx="10178322" cy="5320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3200" cap="none" spc="0" dirty="0" err="1" smtClean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pitchFamily="18" charset="0"/>
              </a:rPr>
              <a:t>Materiales</a:t>
            </a:r>
            <a:r>
              <a:rPr lang="en-CA" sz="3200" cap="none" spc="0" dirty="0" smtClean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pitchFamily="18" charset="0"/>
              </a:rPr>
              <a:t> de </a:t>
            </a:r>
            <a:r>
              <a:rPr lang="en-CA" sz="3200" cap="none" spc="0" dirty="0" err="1" smtClean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pitchFamily="18" charset="0"/>
              </a:rPr>
              <a:t>trabajo</a:t>
            </a:r>
            <a:endParaRPr lang="es-VE" sz="3200" cap="none" spc="0" dirty="0">
              <a:ln w="0"/>
              <a:solidFill>
                <a:srgbClr val="00B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31" name="Abrir llave 30"/>
          <p:cNvSpPr/>
          <p:nvPr/>
        </p:nvSpPr>
        <p:spPr>
          <a:xfrm>
            <a:off x="3093528" y="1219200"/>
            <a:ext cx="716472" cy="245126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7483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78" y="1219201"/>
            <a:ext cx="9987822" cy="9398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Georgia" panose="02040502050405020303" pitchFamily="18" charset="0"/>
              </a:rPr>
              <a:t>El sistema modular de inventario y facturación se rige bajo una </a:t>
            </a:r>
            <a:r>
              <a:rPr lang="es-ES" b="1" dirty="0">
                <a:solidFill>
                  <a:schemeClr val="tx1"/>
                </a:solidFill>
                <a:latin typeface="Georgia" panose="02040502050405020303" pitchFamily="18" charset="0"/>
              </a:rPr>
              <a:t>arquitectura monolítica cliente-servidor tradicional basada en </a:t>
            </a:r>
            <a:r>
              <a:rPr lang="es-ES" b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(</a:t>
            </a:r>
            <a:r>
              <a:rPr lang="es-ES" b="1" dirty="0">
                <a:solidFill>
                  <a:schemeClr val="tx1"/>
                </a:solidFill>
                <a:latin typeface="Georgia" panose="02040502050405020303" pitchFamily="18" charset="0"/>
              </a:rPr>
              <a:t>XAMPP</a:t>
            </a:r>
            <a:r>
              <a:rPr lang="es-ES" b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)</a:t>
            </a:r>
            <a:r>
              <a:rPr lang="es-ES" dirty="0" smtClean="0">
                <a:solidFill>
                  <a:schemeClr val="tx1"/>
                </a:solidFill>
                <a:latin typeface="Georgia" panose="02040502050405020303" pitchFamily="18" charset="0"/>
              </a:rPr>
              <a:t>.</a:t>
            </a:r>
          </a:p>
          <a:p>
            <a:endParaRPr lang="es-VE" dirty="0">
              <a:latin typeface="Georgia" panose="02040502050405020303" pitchFamily="18" charset="0"/>
            </a:endParaRP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36815"/>
          </a:xfrm>
        </p:spPr>
        <p:txBody>
          <a:bodyPr>
            <a:normAutofit/>
          </a:bodyPr>
          <a:lstStyle/>
          <a:p>
            <a:pPr algn="ctr"/>
            <a:r>
              <a:rPr lang="en-CA" sz="3600" b="1" dirty="0" err="1">
                <a:latin typeface="Georgia" panose="02040502050405020303" pitchFamily="18" charset="0"/>
              </a:rPr>
              <a:t>Arquitectura</a:t>
            </a:r>
            <a:r>
              <a:rPr lang="en-CA" sz="3600" b="1" dirty="0">
                <a:latin typeface="Georgia" panose="02040502050405020303" pitchFamily="18" charset="0"/>
              </a:rPr>
              <a:t> del Sistema</a:t>
            </a:r>
            <a:endParaRPr lang="es-VE" sz="3600" b="1" dirty="0">
              <a:latin typeface="Georgia" panose="02040502050405020303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334478" y="2171700"/>
            <a:ext cx="633022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>
                <a:latin typeface="Georgia" panose="02040502050405020303" pitchFamily="18" charset="0"/>
              </a:rPr>
              <a:t>Está construida con </a:t>
            </a:r>
            <a:r>
              <a:rPr lang="es-ES" b="1" dirty="0" smtClean="0">
                <a:latin typeface="Georgia" panose="02040502050405020303" pitchFamily="18" charset="0"/>
              </a:rPr>
              <a:t>HTML5 semántico</a:t>
            </a:r>
            <a:r>
              <a:rPr lang="es-ES" dirty="0" smtClean="0">
                <a:latin typeface="Georgia" panose="02040502050405020303" pitchFamily="18" charset="0"/>
              </a:rPr>
              <a:t>, estructurado dinámicamente con estilos </a:t>
            </a:r>
            <a:r>
              <a:rPr lang="es-ES" b="1" dirty="0" smtClean="0">
                <a:latin typeface="Georgia" panose="02040502050405020303" pitchFamily="18" charset="0"/>
              </a:rPr>
              <a:t>CSS3</a:t>
            </a:r>
            <a:r>
              <a:rPr lang="es-ES" dirty="0" smtClean="0">
                <a:latin typeface="Georgia" panose="02040502050405020303" pitchFamily="18" charset="0"/>
              </a:rPr>
              <a:t> personalizados y </a:t>
            </a:r>
            <a:r>
              <a:rPr lang="es-ES" b="1" dirty="0" smtClean="0">
                <a:latin typeface="Georgia" panose="02040502050405020303" pitchFamily="18" charset="0"/>
              </a:rPr>
              <a:t>JS</a:t>
            </a:r>
            <a:r>
              <a:rPr lang="es-ES" dirty="0" smtClean="0">
                <a:latin typeface="Georgia" panose="02040502050405020303" pitchFamily="18" charset="0"/>
              </a:rPr>
              <a:t>.</a:t>
            </a:r>
            <a:endParaRPr lang="es-VE" dirty="0">
              <a:latin typeface="Georgia" panose="02040502050405020303" pitchFamily="18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358900" y="2189718"/>
            <a:ext cx="1585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VE" b="1" dirty="0" smtClean="0"/>
              <a:t>Presentación</a:t>
            </a:r>
            <a:endParaRPr lang="es-VE" b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1358900" y="3406259"/>
            <a:ext cx="1585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b="1" dirty="0" smtClean="0"/>
              <a:t>Lógica</a:t>
            </a:r>
            <a:endParaRPr lang="es-VE" b="1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334478" y="3219278"/>
            <a:ext cx="6330222" cy="92333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VE" altLang="es-VE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Está desarrollado con </a:t>
            </a:r>
            <a:r>
              <a:rPr kumimoji="0" lang="es-VE" altLang="es-VE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PHP nativo mediante programación por módulos independientes</a:t>
            </a:r>
            <a:r>
              <a:rPr kumimoji="0" lang="es-VE" altLang="es-VE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(</a:t>
            </a:r>
            <a:r>
              <a:rPr kumimoji="0" lang="es-VE" altLang="es-VE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usuarios.php</a:t>
            </a:r>
            <a:r>
              <a:rPr kumimoji="0" lang="es-VE" altLang="es-VE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</a:t>
            </a:r>
            <a:r>
              <a:rPr kumimoji="0" lang="es-VE" altLang="es-VE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productos.php</a:t>
            </a:r>
            <a:r>
              <a:rPr kumimoji="0" lang="es-VE" altLang="es-VE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</a:t>
            </a:r>
            <a:r>
              <a:rPr kumimoji="0" lang="es-VE" altLang="es-VE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ventas.php</a:t>
            </a:r>
            <a:r>
              <a:rPr kumimoji="0" lang="es-VE" altLang="es-VE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etc.). 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1358900" y="4622800"/>
            <a:ext cx="1585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b="1" dirty="0" smtClean="0"/>
              <a:t>Datos</a:t>
            </a:r>
            <a:endParaRPr lang="es-VE" b="1" dirty="0"/>
          </a:p>
        </p:txBody>
      </p:sp>
      <p:sp>
        <p:nvSpPr>
          <p:cNvPr id="13" name="CuadroTexto 12"/>
          <p:cNvSpPr txBox="1"/>
          <p:nvPr/>
        </p:nvSpPr>
        <p:spPr>
          <a:xfrm>
            <a:off x="3334478" y="4543855"/>
            <a:ext cx="6330222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>
                <a:latin typeface="Georgia" panose="02040502050405020303" pitchFamily="18" charset="0"/>
              </a:rPr>
              <a:t>Es el almacenamiento seguro donde reside toda la información del supermercado (usuarios, inventario, clientes y bitácoras transaccionales).</a:t>
            </a:r>
            <a:endParaRPr lang="es-VE" dirty="0">
              <a:latin typeface="Georgia" panose="02040502050405020303" pitchFamily="18" charset="0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334478" y="5868431"/>
            <a:ext cx="6330222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VE" altLang="es-VE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Utiliza el motor relacional </a:t>
            </a:r>
            <a:r>
              <a:rPr kumimoji="0" lang="es-VE" altLang="es-VE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MySQL</a:t>
            </a:r>
            <a:r>
              <a:rPr kumimoji="0" lang="es-VE" altLang="es-VE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/ </a:t>
            </a:r>
            <a:r>
              <a:rPr kumimoji="0" lang="es-VE" altLang="es-VE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MariaDB</a:t>
            </a:r>
            <a:r>
              <a:rPr kumimoji="0" lang="es-VE" altLang="es-VE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bajo la base de datos </a:t>
            </a:r>
            <a:r>
              <a:rPr kumimoji="0" lang="es-VE" altLang="es-VE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el_sabor_de_op</a:t>
            </a:r>
            <a:r>
              <a:rPr kumimoji="0" lang="es-VE" altLang="es-VE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091" y="2282540"/>
            <a:ext cx="565406" cy="565406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110" y="2272764"/>
            <a:ext cx="572571" cy="572571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1897" y="2286231"/>
            <a:ext cx="565406" cy="565406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195" y="3337397"/>
            <a:ext cx="1185105" cy="649612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7982" y="4559301"/>
            <a:ext cx="910116" cy="91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035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contenido 1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8" y="2308132"/>
            <a:ext cx="5092180" cy="2708368"/>
          </a:xfr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36815"/>
          </a:xfrm>
        </p:spPr>
        <p:txBody>
          <a:bodyPr>
            <a:normAutofit/>
          </a:bodyPr>
          <a:lstStyle/>
          <a:p>
            <a:pPr algn="ctr"/>
            <a:r>
              <a:rPr lang="en-CA" sz="3600" b="1" dirty="0" smtClean="0">
                <a:latin typeface="Georgia" panose="02040502050405020303" pitchFamily="18" charset="0"/>
              </a:rPr>
              <a:t>DISEÑO INTERNO DEL SISTEMA</a:t>
            </a:r>
            <a:endParaRPr lang="es-VE" sz="3600" b="1" dirty="0">
              <a:latin typeface="Georgia" panose="02040502050405020303" pitchFamily="18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838" y="2400065"/>
            <a:ext cx="5228708" cy="2597116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1264378" y="1398385"/>
            <a:ext cx="4831622" cy="8368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b="1" dirty="0" smtClean="0">
                <a:latin typeface="Georgia" panose="02040502050405020303" pitchFamily="18" charset="0"/>
              </a:rPr>
              <a:t>VENTANA PRINCIPAL INICIO</a:t>
            </a:r>
            <a:endParaRPr lang="es-VE" sz="2400" b="1" dirty="0">
              <a:latin typeface="Georgia" panose="02040502050405020303" pitchFamily="18" charset="0"/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6560278" y="1398385"/>
            <a:ext cx="4831622" cy="8368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b="1" dirty="0" smtClean="0">
                <a:latin typeface="Georgia" panose="02040502050405020303" pitchFamily="18" charset="0"/>
              </a:rPr>
              <a:t>MODULO INTERNO DASBOARD</a:t>
            </a:r>
            <a:endParaRPr lang="es-VE" sz="2400" b="1" dirty="0">
              <a:latin typeface="Georgia" panose="02040502050405020303" pitchFamily="18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137378" y="5216616"/>
            <a:ext cx="5054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 </a:t>
            </a:r>
            <a:r>
              <a:rPr lang="es-ES" dirty="0" smtClean="0"/>
              <a:t>   La ventana principal de Inicio o </a:t>
            </a:r>
            <a:r>
              <a:rPr lang="es-ES" dirty="0" err="1" smtClean="0"/>
              <a:t>Login</a:t>
            </a:r>
            <a:r>
              <a:rPr lang="es-ES" dirty="0" smtClean="0"/>
              <a:t> (</a:t>
            </a:r>
            <a:r>
              <a:rPr lang="es-ES" dirty="0" err="1" smtClean="0"/>
              <a:t>index.php</a:t>
            </a:r>
            <a:r>
              <a:rPr lang="es-ES" dirty="0" smtClean="0"/>
              <a:t>) cumple un rol crítico de seguridad, autenticación y control de acceso dentro del sistema. </a:t>
            </a:r>
            <a:endParaRPr lang="es-VE" dirty="0"/>
          </a:p>
        </p:txBody>
      </p:sp>
      <p:sp>
        <p:nvSpPr>
          <p:cNvPr id="10" name="CuadroTexto 9"/>
          <p:cNvSpPr txBox="1"/>
          <p:nvPr/>
        </p:nvSpPr>
        <p:spPr>
          <a:xfrm>
            <a:off x="6534878" y="5216616"/>
            <a:ext cx="50540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El </a:t>
            </a:r>
            <a:r>
              <a:rPr lang="es-ES" dirty="0" err="1" smtClean="0"/>
              <a:t>Dashboard</a:t>
            </a:r>
            <a:r>
              <a:rPr lang="es-ES" dirty="0" smtClean="0"/>
              <a:t> o Panel de Gestión Analítica Su función principal es transformar los datos almacenados en la base de datos en información visual clave para la toma de decisiones inmediatas en el comercio.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41662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contenido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392" y="1378805"/>
            <a:ext cx="8176282" cy="4097125"/>
          </a:xfr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36815"/>
          </a:xfrm>
        </p:spPr>
        <p:txBody>
          <a:bodyPr>
            <a:normAutofit fontScale="90000"/>
          </a:bodyPr>
          <a:lstStyle/>
          <a:p>
            <a:pPr algn="ctr"/>
            <a:r>
              <a:rPr lang="en-CA" sz="3600" b="1" dirty="0" smtClean="0">
                <a:latin typeface="Georgia" panose="02040502050405020303" pitchFamily="18" charset="0"/>
              </a:rPr>
              <a:t>MODULO DE </a:t>
            </a:r>
            <a:r>
              <a:rPr lang="en-CA" sz="3600" b="1" err="1" smtClean="0">
                <a:latin typeface="Georgia" panose="02040502050405020303" pitchFamily="18" charset="0"/>
              </a:rPr>
              <a:t>gestion</a:t>
            </a:r>
            <a:r>
              <a:rPr lang="en-CA" sz="3600" b="1" smtClean="0">
                <a:latin typeface="Georgia" panose="02040502050405020303" pitchFamily="18" charset="0"/>
              </a:rPr>
              <a:t> </a:t>
            </a:r>
            <a:br>
              <a:rPr lang="en-CA" sz="3600" b="1" smtClean="0">
                <a:latin typeface="Georgia" panose="02040502050405020303" pitchFamily="18" charset="0"/>
              </a:rPr>
            </a:br>
            <a:r>
              <a:rPr lang="en-CA" sz="3600" b="1" smtClean="0">
                <a:latin typeface="Georgia" panose="02040502050405020303" pitchFamily="18" charset="0"/>
              </a:rPr>
              <a:t>del </a:t>
            </a:r>
            <a:r>
              <a:rPr lang="en-CA" sz="3600" b="1" dirty="0" err="1" smtClean="0">
                <a:latin typeface="Georgia" panose="02040502050405020303" pitchFamily="18" charset="0"/>
              </a:rPr>
              <a:t>sistema</a:t>
            </a:r>
            <a:endParaRPr lang="es-VE" sz="3600" b="1" dirty="0">
              <a:latin typeface="Georgia" panose="02040502050405020303" pitchFamily="18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204174" y="5474196"/>
            <a:ext cx="101871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 </a:t>
            </a:r>
            <a:r>
              <a:rPr lang="es-ES" dirty="0" smtClean="0"/>
              <a:t>   Este módulo permite al administrador modificar y actualizar en tiempo real los datos fiscales del establecimiento </a:t>
            </a:r>
            <a:r>
              <a:rPr lang="es-ES" b="1" dirty="0" smtClean="0"/>
              <a:t>(nombre, teléfono, correo electrónico y dirección)</a:t>
            </a:r>
            <a:r>
              <a:rPr lang="es-ES" dirty="0" smtClean="0"/>
              <a:t>. Estos metadatos guardan persistencia en la base de datos e impactan de manera automatizada tanto en la interfaz del panel de inicio como en las cabeceras de los reportes y facturas en formato PDF emitidas a los clientes.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13460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contenido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381" y="1081825"/>
            <a:ext cx="8685233" cy="4339434"/>
          </a:xfr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36815"/>
          </a:xfrm>
        </p:spPr>
        <p:txBody>
          <a:bodyPr>
            <a:normAutofit/>
          </a:bodyPr>
          <a:lstStyle/>
          <a:p>
            <a:pPr algn="ctr"/>
            <a:r>
              <a:rPr lang="en-CA" sz="3600" b="1" dirty="0" smtClean="0">
                <a:latin typeface="Georgia" panose="02040502050405020303" pitchFamily="18" charset="0"/>
              </a:rPr>
              <a:t>MODULO de </a:t>
            </a:r>
            <a:r>
              <a:rPr lang="en-CA" sz="3600" b="1" dirty="0" err="1" smtClean="0">
                <a:latin typeface="Georgia" panose="02040502050405020303" pitchFamily="18" charset="0"/>
              </a:rPr>
              <a:t>gestion</a:t>
            </a:r>
            <a:r>
              <a:rPr lang="en-CA" sz="3600" b="1" dirty="0" smtClean="0">
                <a:latin typeface="Georgia" panose="02040502050405020303" pitchFamily="18" charset="0"/>
              </a:rPr>
              <a:t> de CLIENTE</a:t>
            </a:r>
            <a:endParaRPr lang="es-VE" sz="3600" b="1" dirty="0">
              <a:latin typeface="Georgia" panose="02040502050405020303" pitchFamily="18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970747" y="5576511"/>
            <a:ext cx="82493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 </a:t>
            </a:r>
            <a:r>
              <a:rPr lang="es-ES" dirty="0" smtClean="0"/>
              <a:t>   Este módulo está diseñado específicamente para la administración de clientes. Permite registrar nuevos usuarios en el sistema, así como editar o eliminar la información de clientes ya existentes.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54406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contenido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60" y="1081824"/>
            <a:ext cx="8352825" cy="4185591"/>
          </a:xfr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36815"/>
          </a:xfrm>
        </p:spPr>
        <p:txBody>
          <a:bodyPr>
            <a:normAutofit/>
          </a:bodyPr>
          <a:lstStyle/>
          <a:p>
            <a:pPr algn="ctr"/>
            <a:r>
              <a:rPr lang="en-CA" sz="3600" b="1" dirty="0" smtClean="0">
                <a:latin typeface="Georgia" panose="02040502050405020303" pitchFamily="18" charset="0"/>
              </a:rPr>
              <a:t>MODULO de historial de ventas</a:t>
            </a:r>
            <a:endParaRPr lang="es-VE" sz="3600" b="1" dirty="0">
              <a:latin typeface="Georgia" panose="02040502050405020303" pitchFamily="18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854839" y="5383327"/>
            <a:ext cx="84353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     Este módulo está destinado exclusivamente a la visualización de las ventas realizadas.</a:t>
            </a:r>
            <a:br>
              <a:rPr lang="es-ES" dirty="0" smtClean="0"/>
            </a:br>
            <a:r>
              <a:rPr lang="es-ES" dirty="0" smtClean="0"/>
              <a:t> </a:t>
            </a:r>
            <a:br>
              <a:rPr lang="es-ES" dirty="0" smtClean="0"/>
            </a:br>
            <a:r>
              <a:rPr lang="es-ES" dirty="0" smtClean="0"/>
              <a:t>     Además, permite consultar el detalle de cada transacción mediante la generación de una factura en formato PDF, la cual incluye el listado completo de los productos y el monto total de la compra.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328709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contenido 1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370" y="1358900"/>
            <a:ext cx="5464349" cy="2770205"/>
          </a:xfr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36815"/>
          </a:xfrm>
        </p:spPr>
        <p:txBody>
          <a:bodyPr>
            <a:normAutofit fontScale="90000"/>
          </a:bodyPr>
          <a:lstStyle/>
          <a:p>
            <a:pPr algn="ctr"/>
            <a:r>
              <a:rPr lang="es-ES" sz="3600" b="1" dirty="0">
                <a:latin typeface="Georgia" panose="02040502050405020303" pitchFamily="18" charset="0"/>
              </a:rPr>
              <a:t>Módulo de Gestión de Inventario</a:t>
            </a:r>
            <a:endParaRPr lang="es-VE" sz="3600" b="1" dirty="0">
              <a:latin typeface="Georgia" panose="02040502050405020303" pitchFamily="18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7322278" y="1393916"/>
            <a:ext cx="42093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    Este módulo está diseñado para la administración integral de los productos. </a:t>
            </a:r>
          </a:p>
          <a:p>
            <a:endParaRPr lang="es-ES" dirty="0"/>
          </a:p>
          <a:p>
            <a:r>
              <a:rPr lang="es-ES" dirty="0" smtClean="0"/>
              <a:t>    Permite registrar nuevos artículos, así como editar o eliminar registros existentes. </a:t>
            </a:r>
          </a:p>
          <a:p>
            <a:endParaRPr lang="es-ES" dirty="0"/>
          </a:p>
          <a:p>
            <a:r>
              <a:rPr lang="es-ES" dirty="0" smtClean="0"/>
              <a:t>    Adicionalmente, ofrece la visualización en tiempo real del stock, los precios y el estado actual de cada producto en el sistema.</a:t>
            </a:r>
            <a:endParaRPr lang="es-VE" dirty="0"/>
          </a:p>
        </p:txBody>
      </p:sp>
      <p:pic>
        <p:nvPicPr>
          <p:cNvPr id="5" name="Marcador de contenido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235" y="4466644"/>
            <a:ext cx="2933039" cy="2021756"/>
          </a:xfrm>
          <a:prstGeom prst="rect">
            <a:avLst/>
          </a:prstGeom>
        </p:spPr>
      </p:pic>
      <p:pic>
        <p:nvPicPr>
          <p:cNvPr id="6" name="Marcador de contenido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231" y="4466644"/>
            <a:ext cx="3634199" cy="2021756"/>
          </a:xfrm>
          <a:prstGeom prst="rect">
            <a:avLst/>
          </a:prstGeom>
        </p:spPr>
      </p:pic>
      <p:pic>
        <p:nvPicPr>
          <p:cNvPr id="7" name="Marcador de contenido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22" y="4466644"/>
            <a:ext cx="3125178" cy="202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99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contenido 1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740" y="1498600"/>
            <a:ext cx="5187009" cy="2770205"/>
          </a:xfr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36815"/>
          </a:xfrm>
        </p:spPr>
        <p:txBody>
          <a:bodyPr>
            <a:normAutofit fontScale="90000"/>
          </a:bodyPr>
          <a:lstStyle/>
          <a:p>
            <a:pPr algn="ctr"/>
            <a:r>
              <a:rPr lang="es-ES" sz="3600" b="1" dirty="0">
                <a:latin typeface="Georgia" panose="02040502050405020303" pitchFamily="18" charset="0"/>
              </a:rPr>
              <a:t>Módulo de Gestión de Usuarios y Permisos</a:t>
            </a:r>
            <a:endParaRPr lang="es-VE" sz="3600" b="1" dirty="0">
              <a:latin typeface="Georgia" panose="02040502050405020303" pitchFamily="18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6908800" y="1393916"/>
            <a:ext cx="4622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    Este módulo está diseñado exclusivamente para el administrador, permitiéndole la gestión integral de los usuarios del sistema.</a:t>
            </a:r>
          </a:p>
          <a:p>
            <a:endParaRPr lang="es-ES" dirty="0"/>
          </a:p>
          <a:p>
            <a:r>
              <a:rPr lang="es-ES" dirty="0" smtClean="0"/>
              <a:t>    El administrador es el único autorizado para registrar nuevos usuarios, así como para modificar o eliminar registros existentes. </a:t>
            </a:r>
          </a:p>
          <a:p>
            <a:endParaRPr lang="es-ES" dirty="0" smtClean="0"/>
          </a:p>
          <a:p>
            <a:r>
              <a:rPr lang="es-ES" dirty="0"/>
              <a:t> </a:t>
            </a:r>
            <a:r>
              <a:rPr lang="es-ES" dirty="0" smtClean="0"/>
              <a:t>   Asimismo, cuenta con la facultad de asignar permisos y niveles de acceso según el cargo laboral de cada empleado, garantizando así un óptimo control y seguridad en la plataforma.</a:t>
            </a:r>
            <a:endParaRPr lang="es-VE" dirty="0"/>
          </a:p>
        </p:txBody>
      </p:sp>
      <p:pic>
        <p:nvPicPr>
          <p:cNvPr id="5" name="Marcador de contenido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349" y="4542844"/>
            <a:ext cx="2072810" cy="2021756"/>
          </a:xfrm>
          <a:prstGeom prst="rect">
            <a:avLst/>
          </a:prstGeom>
        </p:spPr>
      </p:pic>
      <p:pic>
        <p:nvPicPr>
          <p:cNvPr id="6" name="Marcador de contenido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343" y="4809518"/>
            <a:ext cx="4300647" cy="1832355"/>
          </a:xfrm>
          <a:prstGeom prst="rect">
            <a:avLst/>
          </a:prstGeom>
        </p:spPr>
      </p:pic>
      <p:pic>
        <p:nvPicPr>
          <p:cNvPr id="7" name="Marcador de contenido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822" y="4806669"/>
            <a:ext cx="3125178" cy="187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0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contenido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117" y="1476060"/>
            <a:ext cx="5714983" cy="3777465"/>
          </a:xfr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36815"/>
          </a:xfrm>
        </p:spPr>
        <p:txBody>
          <a:bodyPr>
            <a:normAutofit fontScale="90000"/>
          </a:bodyPr>
          <a:lstStyle/>
          <a:p>
            <a:pPr algn="ctr"/>
            <a:r>
              <a:rPr lang="es-ES" sz="3600" b="1" dirty="0" err="1" smtClean="0">
                <a:latin typeface="Georgia" panose="02040502050405020303" pitchFamily="18" charset="0"/>
              </a:rPr>
              <a:t>Descripcion</a:t>
            </a:r>
            <a:r>
              <a:rPr lang="es-ES" sz="3600" b="1" dirty="0" smtClean="0">
                <a:latin typeface="Georgia" panose="02040502050405020303" pitchFamily="18" charset="0"/>
              </a:rPr>
              <a:t> del comprobante de venta generado</a:t>
            </a:r>
            <a:endParaRPr lang="es-VE" sz="3600" b="1" dirty="0">
              <a:latin typeface="Georgia" panose="02040502050405020303" pitchFamily="18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5105401" y="5619761"/>
            <a:ext cx="4902200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1400" dirty="0" smtClean="0">
                <a:latin typeface="Georgia" panose="02040502050405020303" pitchFamily="18" charset="0"/>
              </a:rPr>
              <a:t>    Finalmente, el sistema realiza de forma exacta el cálculo matemático del subtotal, el desglose del I.V.A. (16%) y el Total a Pagar, garantizando transparencia y rapidez en el proceso de facturación.</a:t>
            </a:r>
            <a:endParaRPr lang="es-VE" sz="1400" dirty="0">
              <a:latin typeface="Georgia" panose="02040502050405020303" pitchFamily="18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409701" y="1498504"/>
            <a:ext cx="2298715" cy="16004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1400" dirty="0" smtClean="0">
                <a:latin typeface="Georgia" panose="02040502050405020303" pitchFamily="18" charset="0"/>
              </a:rPr>
              <a:t>En el encabezado se aprecian claramente los datos fiscales e institucionales de la distribuidora, seguidos por la sección automatizada con los datos del cliente. 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384300" y="4029157"/>
            <a:ext cx="2324116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1400" dirty="0" smtClean="0">
                <a:latin typeface="Georgia" panose="02040502050405020303" pitchFamily="18" charset="0"/>
              </a:rPr>
              <a:t> El núcleo del módulo despliega una tabla dinámica con el desglose de los productos adquiridos, sus cantidades y precios unitarios.</a:t>
            </a:r>
            <a:endParaRPr lang="es-VE" sz="1400" dirty="0">
              <a:latin typeface="Georgia" panose="02040502050405020303" pitchFamily="18" charset="0"/>
            </a:endParaRPr>
          </a:p>
        </p:txBody>
      </p:sp>
      <p:cxnSp>
        <p:nvCxnSpPr>
          <p:cNvPr id="13" name="Conector recto de flecha 12"/>
          <p:cNvCxnSpPr>
            <a:stCxn id="3" idx="3"/>
          </p:cNvCxnSpPr>
          <p:nvPr/>
        </p:nvCxnSpPr>
        <p:spPr>
          <a:xfrm flipV="1">
            <a:off x="3708416" y="2149415"/>
            <a:ext cx="850884" cy="14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>
            <a:stCxn id="9" idx="3"/>
          </p:cNvCxnSpPr>
          <p:nvPr/>
        </p:nvCxnSpPr>
        <p:spPr>
          <a:xfrm flipV="1">
            <a:off x="3708416" y="3911600"/>
            <a:ext cx="1511284" cy="810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/>
          <p:cNvCxnSpPr>
            <a:stCxn id="8" idx="0"/>
          </p:cNvCxnSpPr>
          <p:nvPr/>
        </p:nvCxnSpPr>
        <p:spPr>
          <a:xfrm flipV="1">
            <a:off x="7556501" y="4432300"/>
            <a:ext cx="927099" cy="1187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23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contenido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979" y="1004552"/>
            <a:ext cx="8227942" cy="4237106"/>
          </a:xfr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36815"/>
          </a:xfrm>
        </p:spPr>
        <p:txBody>
          <a:bodyPr>
            <a:normAutofit/>
          </a:bodyPr>
          <a:lstStyle/>
          <a:p>
            <a:pPr algn="ctr"/>
            <a:r>
              <a:rPr lang="en-CA" sz="3600" b="1" dirty="0" smtClean="0">
                <a:latin typeface="Georgia" panose="02040502050405020303" pitchFamily="18" charset="0"/>
              </a:rPr>
              <a:t>MODULO DEL STOCK</a:t>
            </a:r>
            <a:endParaRPr lang="es-VE" sz="3600" b="1" dirty="0">
              <a:latin typeface="Georgia" panose="02040502050405020303" pitchFamily="18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2318478" y="5267416"/>
            <a:ext cx="82493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 </a:t>
            </a:r>
            <a:r>
              <a:rPr lang="es-ES" dirty="0" smtClean="0"/>
              <a:t>    Aquí se podrá ver el “stock” en tiempo real de los productos que se encuentran en disposición ya que se mostrara la imagen, el nombre, la cantidad y si esta disponible o no.</a:t>
            </a:r>
            <a:br>
              <a:rPr lang="es-ES" dirty="0" smtClean="0"/>
            </a:br>
            <a:r>
              <a:rPr lang="es-ES" dirty="0" smtClean="0"/>
              <a:t>      En caso contrario saldrá una alerta en “</a:t>
            </a:r>
            <a:r>
              <a:rPr lang="es-ES" dirty="0" smtClean="0">
                <a:solidFill>
                  <a:srgbClr val="FF0000"/>
                </a:solidFill>
              </a:rPr>
              <a:t>ROJO</a:t>
            </a:r>
            <a:r>
              <a:rPr lang="es-ES" dirty="0" smtClean="0"/>
              <a:t>” notificación que hay 10 o menos productos a disposición en el inventario.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074128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contenido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490" y="1155111"/>
            <a:ext cx="9765875" cy="4936595"/>
          </a:xfr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36815"/>
          </a:xfrm>
        </p:spPr>
        <p:txBody>
          <a:bodyPr>
            <a:normAutofit/>
          </a:bodyPr>
          <a:lstStyle/>
          <a:p>
            <a:pPr algn="ctr"/>
            <a:r>
              <a:rPr lang="en-CA" sz="3600" b="1" dirty="0" smtClean="0">
                <a:latin typeface="Georgia" panose="02040502050405020303" pitchFamily="18" charset="0"/>
              </a:rPr>
              <a:t>MODULO Del desarrollador</a:t>
            </a:r>
            <a:endParaRPr lang="es-VE" sz="3600" b="1" dirty="0">
              <a:latin typeface="Georgia" panose="02040502050405020303" pitchFamily="18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2318478" y="6220453"/>
            <a:ext cx="824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 </a:t>
            </a:r>
            <a:r>
              <a:rPr lang="es-ES" dirty="0" smtClean="0"/>
              <a:t>    Aquí se podrá apreciar una mínima información del desarrollador del sistema.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01665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1251678" y="382385"/>
            <a:ext cx="10178322" cy="8368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latin typeface="Georgia" panose="02040502050405020303" pitchFamily="18" charset="0"/>
              </a:rPr>
              <a:t>¡</a:t>
            </a:r>
            <a:r>
              <a:rPr lang="es-ES" sz="3300" b="1" dirty="0">
                <a:latin typeface="Georgia" panose="02040502050405020303" pitchFamily="18" charset="0"/>
              </a:rPr>
              <a:t>Muchas</a:t>
            </a:r>
            <a:r>
              <a:rPr lang="es-ES" sz="3200" b="1" dirty="0">
                <a:latin typeface="Georgia" panose="02040502050405020303" pitchFamily="18" charset="0"/>
              </a:rPr>
              <a:t> gracias por su atención!</a:t>
            </a:r>
            <a:endParaRPr lang="es-ES" sz="3200" dirty="0">
              <a:latin typeface="Georgia" panose="02040502050405020303" pitchFamily="18" charset="0"/>
            </a:endParaRP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251678" y="1601585"/>
            <a:ext cx="10178322" cy="31990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ES" sz="3200" dirty="0">
                <a:latin typeface="Georgia" panose="02040502050405020303" pitchFamily="18" charset="0"/>
              </a:rPr>
              <a:t>A </a:t>
            </a:r>
            <a:r>
              <a:rPr lang="es-ES" sz="3200" dirty="0" smtClean="0">
                <a:latin typeface="Georgia" panose="02040502050405020303" pitchFamily="18" charset="0"/>
              </a:rPr>
              <a:t>continuación </a:t>
            </a:r>
          </a:p>
          <a:p>
            <a:pPr algn="ctr">
              <a:lnSpc>
                <a:spcPct val="100000"/>
              </a:lnSpc>
            </a:pPr>
            <a:r>
              <a:rPr lang="es-ES" sz="3200" dirty="0" smtClean="0">
                <a:latin typeface="Georgia" panose="02040502050405020303" pitchFamily="18" charset="0"/>
              </a:rPr>
              <a:t>daremos </a:t>
            </a:r>
            <a:r>
              <a:rPr lang="es-ES" sz="3200" dirty="0">
                <a:latin typeface="Georgia" panose="02040502050405020303" pitchFamily="18" charset="0"/>
              </a:rPr>
              <a:t>inicio </a:t>
            </a:r>
            <a:endParaRPr lang="es-ES" sz="3200" dirty="0" smtClean="0">
              <a:latin typeface="Georgia" panose="02040502050405020303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s-ES" sz="3200" dirty="0" smtClean="0">
                <a:latin typeface="Georgia" panose="02040502050405020303" pitchFamily="18" charset="0"/>
              </a:rPr>
              <a:t>a </a:t>
            </a:r>
            <a:r>
              <a:rPr lang="es-ES" sz="3200" dirty="0">
                <a:latin typeface="Georgia" panose="02040502050405020303" pitchFamily="18" charset="0"/>
              </a:rPr>
              <a:t>la demostración práctica para observar el funcionamiento del sistema en tiempo real.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405" y="4267199"/>
            <a:ext cx="2260295" cy="2260295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62282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171312"/>
      </a:dk2>
      <a:lt2>
        <a:srgbClr val="F7F0DF"/>
      </a:lt2>
      <a:accent1>
        <a:srgbClr val="53AE6E"/>
      </a:accent1>
      <a:accent2>
        <a:srgbClr val="326267"/>
      </a:accent2>
      <a:accent3>
        <a:srgbClr val="C5C34A"/>
      </a:accent3>
      <a:accent4>
        <a:srgbClr val="BF6546"/>
      </a:accent4>
      <a:accent5>
        <a:srgbClr val="81B5A8"/>
      </a:accent5>
      <a:accent6>
        <a:srgbClr val="636455"/>
      </a:accent6>
      <a:hlink>
        <a:srgbClr val="81B5A8"/>
      </a:hlink>
      <a:folHlink>
        <a:srgbClr val="936888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A1A3E1F0-B5EF-49C5-810A-B1B32AEDDC8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TM10001106[[fn=Distintivo]]</Template>
  <TotalTime>357</TotalTime>
  <Words>744</Words>
  <Application>Microsoft Office PowerPoint</Application>
  <PresentationFormat>Panorámica</PresentationFormat>
  <Paragraphs>76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Georgia</vt:lpstr>
      <vt:lpstr>Gill Sans MT</vt:lpstr>
      <vt:lpstr>Impact</vt:lpstr>
      <vt:lpstr>Badge</vt:lpstr>
      <vt:lpstr>Presentación de PowerPoint</vt:lpstr>
      <vt:lpstr>DISTRIBUIDORA MAYORISTA EL SABOR DE OP</vt:lpstr>
      <vt:lpstr>Introducción del proyecto</vt:lpstr>
      <vt:lpstr>SISTEMA DISEÑADO EN</vt:lpstr>
      <vt:lpstr>Arquitectura del Sistema</vt:lpstr>
      <vt:lpstr>DISEÑO INTERNO DEL SISTEMA</vt:lpstr>
      <vt:lpstr>MODULO DE gestion  del sistema</vt:lpstr>
      <vt:lpstr>MODULO de gestion de CLIENTE</vt:lpstr>
      <vt:lpstr>MODULO de historial de ventas</vt:lpstr>
      <vt:lpstr>Módulo de Gestión de Inventario</vt:lpstr>
      <vt:lpstr>Módulo de Gestión de Usuarios y Permisos</vt:lpstr>
      <vt:lpstr>Descripcion del comprobante de venta generado</vt:lpstr>
      <vt:lpstr>MODULO DEL STOCK</vt:lpstr>
      <vt:lpstr>MODULO Del desarrollador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Omar</dc:creator>
  <cp:lastModifiedBy>Omar</cp:lastModifiedBy>
  <cp:revision>73</cp:revision>
  <dcterms:created xsi:type="dcterms:W3CDTF">2026-07-09T20:39:59Z</dcterms:created>
  <dcterms:modified xsi:type="dcterms:W3CDTF">2026-07-15T23:45:36Z</dcterms:modified>
</cp:coreProperties>
</file>